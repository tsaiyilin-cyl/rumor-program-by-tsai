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68" r:id="rId5"/>
    <p:sldId id="269" r:id="rId6"/>
    <p:sldId id="274" r:id="rId7"/>
    <p:sldId id="260" r:id="rId8"/>
    <p:sldId id="259" r:id="rId9"/>
    <p:sldId id="261" r:id="rId10"/>
    <p:sldId id="262" r:id="rId11"/>
    <p:sldId id="263" r:id="rId12"/>
    <p:sldId id="270" r:id="rId13"/>
    <p:sldId id="271" r:id="rId14"/>
    <p:sldId id="264" r:id="rId15"/>
    <p:sldId id="272" r:id="rId16"/>
    <p:sldId id="273" r:id="rId17"/>
    <p:sldId id="265" r:id="rId18"/>
    <p:sldId id="276" r:id="rId19"/>
    <p:sldId id="277" r:id="rId20"/>
    <p:sldId id="266" r:id="rId21"/>
    <p:sldId id="278" r:id="rId22"/>
    <p:sldId id="279" r:id="rId23"/>
    <p:sldId id="280" r:id="rId24"/>
    <p:sldId id="281" r:id="rId25"/>
    <p:sldId id="267" r:id="rId26"/>
    <p:sldId id="283" r:id="rId27"/>
    <p:sldId id="284" r:id="rId28"/>
    <p:sldId id="285" r:id="rId29"/>
    <p:sldId id="286" r:id="rId30"/>
    <p:sldId id="275" r:id="rId31"/>
    <p:sldId id="282" r:id="rId32"/>
    <p:sldId id="287"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7" d="100"/>
          <a:sy n="197" d="100"/>
        </p:scale>
        <p:origin x="150"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B7260-17EC-4D5E-8E6F-A1D4902362B2}"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ED549D-C6D4-44A0-A081-B0F8C667BC23}" type="slidenum">
              <a:rPr lang="zh-CN" altLang="en-US" smtClean="0"/>
              <a:t>‹#›</a:t>
            </a:fld>
            <a:endParaRPr lang="zh-CN" altLang="en-US"/>
          </a:p>
        </p:txBody>
      </p:sp>
    </p:spTree>
    <p:extLst>
      <p:ext uri="{BB962C8B-B14F-4D97-AF65-F5344CB8AC3E}">
        <p14:creationId xmlns:p14="http://schemas.microsoft.com/office/powerpoint/2010/main" val="767535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7ED549D-C6D4-44A0-A081-B0F8C667BC23}" type="slidenum">
              <a:rPr lang="zh-CN" altLang="en-US" smtClean="0"/>
              <a:t>1</a:t>
            </a:fld>
            <a:endParaRPr lang="zh-CN" altLang="en-US"/>
          </a:p>
        </p:txBody>
      </p:sp>
    </p:spTree>
    <p:extLst>
      <p:ext uri="{BB962C8B-B14F-4D97-AF65-F5344CB8AC3E}">
        <p14:creationId xmlns:p14="http://schemas.microsoft.com/office/powerpoint/2010/main" val="630230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AB1A30-8752-28A7-4580-891C26920C5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6A1905B-8EDE-AC06-3BC9-1CAC9BC574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B3464D5-12A5-1494-19B3-29EDB1E08272}"/>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DAC8DA16-648B-2272-C194-5B511720DC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79A959-9604-FED7-8131-5190596B772F}"/>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1160414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D9B24-00C6-0A1B-7684-865031FB27A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0F1AC75-B1AB-6F3B-60FB-672006F6AF3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95CC36-3D1A-B256-1F7D-B77397274309}"/>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0364DF49-3CA7-8F6C-1DF0-91983052A8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B62770-4891-C7E3-A3E6-3D2150F40F9B}"/>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1456382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BF9FA-02E4-16B1-9929-4F2D6BFA30B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13ABA6C-110E-E416-3B2D-ED19C355C7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EC2B01A-A345-81B0-E60E-5D8D4DD0C000}"/>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C760B0D2-CE61-3D7A-66DB-3EF3973D62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20B5F1-E727-1DE7-D346-ADC8CC1E22D2}"/>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226897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95234-235A-2F92-6FED-078BA32BAF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58661B0-5517-64F3-633C-A96D3FF2202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F1B7120-CBBF-CB2C-9C09-08D348917E0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F8239E5-2F36-CBAF-0328-40EC6DFCA9EC}"/>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6" name="页脚占位符 5">
            <a:extLst>
              <a:ext uri="{FF2B5EF4-FFF2-40B4-BE49-F238E27FC236}">
                <a16:creationId xmlns:a16="http://schemas.microsoft.com/office/drawing/2014/main" id="{8A125977-137A-A7AB-A507-945C21734A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6E1A42A-6A17-2A88-65F2-0EC3B2EFF993}"/>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588280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221778-819B-92C4-289F-03888331B8F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A941D7E-4C03-41A5-EEFC-8B5063B40F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AC3C2D6-FC32-7DB7-D5C0-B9904FC26E0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56EEC66-B238-6DEC-63EE-8D60FEC7C9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628C4B3-AF2C-CF21-A926-51F86B1D2F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7D35B8B-D26C-E09E-DF6E-A894C9FAA3DD}"/>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8" name="页脚占位符 7">
            <a:extLst>
              <a:ext uri="{FF2B5EF4-FFF2-40B4-BE49-F238E27FC236}">
                <a16:creationId xmlns:a16="http://schemas.microsoft.com/office/drawing/2014/main" id="{6DDD90FC-2944-242D-8CBB-6C87754717B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B4DDD2F-FCDF-7458-4A30-F79060A6445F}"/>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8832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A03089-44C7-5FDD-9B09-D57F4606997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0CEDA08-D7D3-D99A-596F-11BA162F1435}"/>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4" name="页脚占位符 3">
            <a:extLst>
              <a:ext uri="{FF2B5EF4-FFF2-40B4-BE49-F238E27FC236}">
                <a16:creationId xmlns:a16="http://schemas.microsoft.com/office/drawing/2014/main" id="{47A321AA-ED80-6520-453C-C7D56EDA084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164DFDF-A798-DE17-BEEE-3239334CAECF}"/>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26082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AFD989A-326A-5F09-51C4-78DFF9825398}"/>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3" name="页脚占位符 2">
            <a:extLst>
              <a:ext uri="{FF2B5EF4-FFF2-40B4-BE49-F238E27FC236}">
                <a16:creationId xmlns:a16="http://schemas.microsoft.com/office/drawing/2014/main" id="{8C2ECEC7-371E-9D00-0AAA-10E890D5574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C15193A-CE55-55D3-5F12-DC6309481834}"/>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297266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BA51F-1260-2C58-6449-9C0F057EFA1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49B80F3-565A-19CB-5F4F-67FA7F2AE1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31CADC2-79BB-7DEE-0DD9-A2B3F9BD0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082B87B-A623-B1DC-FD03-0A8A37EDAE8D}"/>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6" name="页脚占位符 5">
            <a:extLst>
              <a:ext uri="{FF2B5EF4-FFF2-40B4-BE49-F238E27FC236}">
                <a16:creationId xmlns:a16="http://schemas.microsoft.com/office/drawing/2014/main" id="{9A53B015-80D3-E335-1B3A-41CBB75E13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468848-663A-1D9A-1781-4166FBF2F808}"/>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38266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F1FED1-B9F7-0519-DE3B-FB97452376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56780-0380-1717-57C0-5EA821272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FC4E0F1-3408-E537-F5F9-7BE49F8B1D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B4620EB-670F-F8B5-B6F9-7343DA33F0FB}"/>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6" name="页脚占位符 5">
            <a:extLst>
              <a:ext uri="{FF2B5EF4-FFF2-40B4-BE49-F238E27FC236}">
                <a16:creationId xmlns:a16="http://schemas.microsoft.com/office/drawing/2014/main" id="{00ABA6DC-426C-8A23-A242-406781B842D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E8AC77-BA0E-3646-E228-F86D37B50A21}"/>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18029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9E20A0-691E-7642-B695-1763C2D2E1D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F24F76-AD2E-536E-323A-A52989BB300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1F16E8-BE7C-84A7-F45B-E0C78F3B88BA}"/>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AE0BB27A-0763-C7A9-BBDB-49BC9E228D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DDC658-5D11-219A-BAD1-CBB84EC56245}"/>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255893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AA6C36C-E828-62C7-B914-6AFB9E669CC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761464F-EC4D-FF46-7D84-3FCAF27856C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A583EA-C477-B809-CBBC-B2388D1256E3}"/>
              </a:ext>
            </a:extLst>
          </p:cNvPr>
          <p:cNvSpPr>
            <a:spLocks noGrp="1"/>
          </p:cNvSpPr>
          <p:nvPr>
            <p:ph type="dt" sz="half" idx="10"/>
          </p:nvPr>
        </p:nvSpPr>
        <p:spPr/>
        <p:txBody>
          <a:bodyPr/>
          <a:lstStyle/>
          <a:p>
            <a:fld id="{414B0EB2-81FE-450C-BCBE-7DD80642491D}"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727E5C54-BA84-D6D7-B34B-CD3152BB8A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A5630A-2F99-0586-01E5-3FCA78E5CBD6}"/>
              </a:ext>
            </a:extLst>
          </p:cNvPr>
          <p:cNvSpPr>
            <a:spLocks noGrp="1"/>
          </p:cNvSpPr>
          <p:nvPr>
            <p:ph type="sldNum" sz="quarter" idx="12"/>
          </p:nvPr>
        </p:nvSpPr>
        <p:spPr/>
        <p:txBody>
          <a:body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1705306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119E51F-3815-964A-6FBE-35423A5D39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D67C9A8-6D62-9C3B-483F-30493CE3C3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B35117A-957C-1B27-03B0-C63CE1FF0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4B0EB2-81FE-450C-BCBE-7DD80642491D}" type="datetimeFigureOut">
              <a:rPr lang="zh-CN" altLang="en-US" smtClean="0"/>
              <a:t>2026/5/28</a:t>
            </a:fld>
            <a:endParaRPr lang="zh-CN" altLang="en-US"/>
          </a:p>
        </p:txBody>
      </p:sp>
      <p:sp>
        <p:nvSpPr>
          <p:cNvPr id="5" name="页脚占位符 4">
            <a:extLst>
              <a:ext uri="{FF2B5EF4-FFF2-40B4-BE49-F238E27FC236}">
                <a16:creationId xmlns:a16="http://schemas.microsoft.com/office/drawing/2014/main" id="{B8D35672-A0D0-963A-924F-FC5A731BE6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7DE4331-1C58-F913-CFEC-E2F21A8C01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92D610-374A-4310-9746-A80A413964D2}" type="slidenum">
              <a:rPr lang="zh-CN" altLang="en-US" smtClean="0"/>
              <a:t>‹#›</a:t>
            </a:fld>
            <a:endParaRPr lang="zh-CN" altLang="en-US"/>
          </a:p>
        </p:txBody>
      </p:sp>
    </p:spTree>
    <p:extLst>
      <p:ext uri="{BB962C8B-B14F-4D97-AF65-F5344CB8AC3E}">
        <p14:creationId xmlns:p14="http://schemas.microsoft.com/office/powerpoint/2010/main" val="3791964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93E0B2-0C62-F86E-CD10-4557BD8D4163}"/>
              </a:ext>
            </a:extLst>
          </p:cNvPr>
          <p:cNvSpPr>
            <a:spLocks noGrp="1"/>
          </p:cNvSpPr>
          <p:nvPr>
            <p:ph type="ctrTitle"/>
          </p:nvPr>
        </p:nvSpPr>
        <p:spPr/>
        <p:txBody>
          <a:bodyPr>
            <a:normAutofit fontScale="90000"/>
          </a:bodyPr>
          <a:lstStyle/>
          <a:p>
            <a:r>
              <a:rPr lang="zh-CN" altLang="en-US" b="1" dirty="0"/>
              <a:t>多智能体网络中的自我纠偏：拟人化身份与真相传播</a:t>
            </a:r>
            <a:endParaRPr lang="zh-CN" altLang="en-US" sz="4400" dirty="0"/>
          </a:p>
        </p:txBody>
      </p:sp>
      <p:sp>
        <p:nvSpPr>
          <p:cNvPr id="3" name="副标题 2">
            <a:extLst>
              <a:ext uri="{FF2B5EF4-FFF2-40B4-BE49-F238E27FC236}">
                <a16:creationId xmlns:a16="http://schemas.microsoft.com/office/drawing/2014/main" id="{A5C18991-9FE0-8D67-CE36-220726621F07}"/>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82774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3F0B02D-0FCE-EE92-C6ED-4ECF389F6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275" y="334962"/>
            <a:ext cx="8121650" cy="6350439"/>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F3FA51DE-175D-3963-D50E-0FD2C14F800A}"/>
              </a:ext>
            </a:extLst>
          </p:cNvPr>
          <p:cNvSpPr txBox="1"/>
          <p:nvPr/>
        </p:nvSpPr>
        <p:spPr>
          <a:xfrm>
            <a:off x="425450" y="285750"/>
            <a:ext cx="172354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问题的提出</a:t>
            </a:r>
          </a:p>
        </p:txBody>
      </p:sp>
    </p:spTree>
    <p:extLst>
      <p:ext uri="{BB962C8B-B14F-4D97-AF65-F5344CB8AC3E}">
        <p14:creationId xmlns:p14="http://schemas.microsoft.com/office/powerpoint/2010/main" val="2245979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8A52EC9-196F-90A9-FCD7-2B34BD192679}"/>
              </a:ext>
            </a:extLst>
          </p:cNvPr>
          <p:cNvSpPr txBox="1"/>
          <p:nvPr/>
        </p:nvSpPr>
        <p:spPr>
          <a:xfrm>
            <a:off x="425450" y="285750"/>
            <a:ext cx="3150088" cy="830997"/>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拟人化网络的平均观点更加正确？</a:t>
            </a:r>
          </a:p>
        </p:txBody>
      </p:sp>
      <p:sp>
        <p:nvSpPr>
          <p:cNvPr id="4" name="对话气泡: 圆角矩形 3">
            <a:extLst>
              <a:ext uri="{FF2B5EF4-FFF2-40B4-BE49-F238E27FC236}">
                <a16:creationId xmlns:a16="http://schemas.microsoft.com/office/drawing/2014/main" id="{7F49725C-595C-1CBF-0491-32EFC5BA262E}"/>
              </a:ext>
            </a:extLst>
          </p:cNvPr>
          <p:cNvSpPr/>
          <p:nvPr/>
        </p:nvSpPr>
        <p:spPr>
          <a:xfrm>
            <a:off x="895838" y="3429000"/>
            <a:ext cx="1314450" cy="612648"/>
          </a:xfrm>
          <a:prstGeom prst="wedgeRoundRectCallout">
            <a:avLst>
              <a:gd name="adj1" fmla="val -40157"/>
              <a:gd name="adj2" fmla="val 6871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rPr>
              <a:t>为什么？</a:t>
            </a:r>
          </a:p>
        </p:txBody>
      </p:sp>
      <p:pic>
        <p:nvPicPr>
          <p:cNvPr id="8" name="图片 7">
            <a:extLst>
              <a:ext uri="{FF2B5EF4-FFF2-40B4-BE49-F238E27FC236}">
                <a16:creationId xmlns:a16="http://schemas.microsoft.com/office/drawing/2014/main" id="{81D0D278-2981-7D31-8D52-2665EEE8F236}"/>
              </a:ext>
            </a:extLst>
          </p:cNvPr>
          <p:cNvPicPr>
            <a:picLocks noChangeAspect="1"/>
          </p:cNvPicPr>
          <p:nvPr/>
        </p:nvPicPr>
        <p:blipFill>
          <a:blip r:embed="rId2"/>
          <a:stretch>
            <a:fillRect/>
          </a:stretch>
        </p:blipFill>
        <p:spPr>
          <a:xfrm>
            <a:off x="3575538" y="0"/>
            <a:ext cx="7183402" cy="6858000"/>
          </a:xfrm>
          <a:prstGeom prst="rect">
            <a:avLst/>
          </a:prstGeom>
        </p:spPr>
      </p:pic>
    </p:spTree>
    <p:extLst>
      <p:ext uri="{BB962C8B-B14F-4D97-AF65-F5344CB8AC3E}">
        <p14:creationId xmlns:p14="http://schemas.microsoft.com/office/powerpoint/2010/main" val="1705722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19419A52-A0FE-1E90-E5B9-50E9719DA46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pic>
        <p:nvPicPr>
          <p:cNvPr id="9" name="图片 8">
            <a:extLst>
              <a:ext uri="{FF2B5EF4-FFF2-40B4-BE49-F238E27FC236}">
                <a16:creationId xmlns:a16="http://schemas.microsoft.com/office/drawing/2014/main" id="{2DA8885E-CAAF-5F43-9A83-59E2200B1017}"/>
              </a:ext>
            </a:extLst>
          </p:cNvPr>
          <p:cNvPicPr>
            <a:picLocks noChangeAspect="1"/>
          </p:cNvPicPr>
          <p:nvPr/>
        </p:nvPicPr>
        <p:blipFill>
          <a:blip r:embed="rId2"/>
          <a:stretch>
            <a:fillRect/>
          </a:stretch>
        </p:blipFill>
        <p:spPr>
          <a:xfrm>
            <a:off x="331940" y="0"/>
            <a:ext cx="5611660" cy="6858000"/>
          </a:xfrm>
          <a:prstGeom prst="rect">
            <a:avLst/>
          </a:prstGeom>
        </p:spPr>
      </p:pic>
      <p:pic>
        <p:nvPicPr>
          <p:cNvPr id="11" name="图片 10">
            <a:extLst>
              <a:ext uri="{FF2B5EF4-FFF2-40B4-BE49-F238E27FC236}">
                <a16:creationId xmlns:a16="http://schemas.microsoft.com/office/drawing/2014/main" id="{D3E6F994-34B9-DECE-C4D9-FD7632DEF82A}"/>
              </a:ext>
            </a:extLst>
          </p:cNvPr>
          <p:cNvPicPr>
            <a:picLocks noChangeAspect="1"/>
          </p:cNvPicPr>
          <p:nvPr/>
        </p:nvPicPr>
        <p:blipFill>
          <a:blip r:embed="rId3"/>
          <a:stretch>
            <a:fillRect/>
          </a:stretch>
        </p:blipFill>
        <p:spPr>
          <a:xfrm>
            <a:off x="6248400" y="0"/>
            <a:ext cx="5611660" cy="6858000"/>
          </a:xfrm>
          <a:prstGeom prst="rect">
            <a:avLst/>
          </a:prstGeom>
        </p:spPr>
      </p:pic>
    </p:spTree>
    <p:extLst>
      <p:ext uri="{BB962C8B-B14F-4D97-AF65-F5344CB8AC3E}">
        <p14:creationId xmlns:p14="http://schemas.microsoft.com/office/powerpoint/2010/main" val="1249202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9380B96-0568-6B58-5BEE-5117C02253A4}"/>
              </a:ext>
            </a:extLst>
          </p:cNvPr>
          <p:cNvPicPr>
            <a:picLocks noChangeAspect="1"/>
          </p:cNvPicPr>
          <p:nvPr/>
        </p:nvPicPr>
        <p:blipFill>
          <a:blip r:embed="rId2"/>
          <a:stretch>
            <a:fillRect/>
          </a:stretch>
        </p:blipFill>
        <p:spPr>
          <a:xfrm>
            <a:off x="189417" y="0"/>
            <a:ext cx="5611660" cy="6858000"/>
          </a:xfrm>
          <a:prstGeom prst="rect">
            <a:avLst/>
          </a:prstGeom>
        </p:spPr>
      </p:pic>
      <p:pic>
        <p:nvPicPr>
          <p:cNvPr id="5" name="图片 4">
            <a:extLst>
              <a:ext uri="{FF2B5EF4-FFF2-40B4-BE49-F238E27FC236}">
                <a16:creationId xmlns:a16="http://schemas.microsoft.com/office/drawing/2014/main" id="{FA1D2B9A-BB83-2128-B3D9-20933C96F780}"/>
              </a:ext>
            </a:extLst>
          </p:cNvPr>
          <p:cNvPicPr>
            <a:picLocks noChangeAspect="1"/>
          </p:cNvPicPr>
          <p:nvPr/>
        </p:nvPicPr>
        <p:blipFill>
          <a:blip r:embed="rId3"/>
          <a:stretch>
            <a:fillRect/>
          </a:stretch>
        </p:blipFill>
        <p:spPr>
          <a:xfrm>
            <a:off x="6004062" y="0"/>
            <a:ext cx="5611660" cy="6858000"/>
          </a:xfrm>
          <a:prstGeom prst="rect">
            <a:avLst/>
          </a:prstGeom>
        </p:spPr>
      </p:pic>
    </p:spTree>
    <p:extLst>
      <p:ext uri="{BB962C8B-B14F-4D97-AF65-F5344CB8AC3E}">
        <p14:creationId xmlns:p14="http://schemas.microsoft.com/office/powerpoint/2010/main" val="108890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2F77118-66F8-3647-F374-09522202F944}"/>
              </a:ext>
            </a:extLst>
          </p:cNvPr>
          <p:cNvPicPr>
            <a:picLocks noChangeAspect="1"/>
          </p:cNvPicPr>
          <p:nvPr/>
        </p:nvPicPr>
        <p:blipFill>
          <a:blip r:embed="rId2"/>
          <a:stretch>
            <a:fillRect/>
          </a:stretch>
        </p:blipFill>
        <p:spPr>
          <a:xfrm>
            <a:off x="114300" y="0"/>
            <a:ext cx="5680553" cy="6858000"/>
          </a:xfrm>
          <a:prstGeom prst="rect">
            <a:avLst/>
          </a:prstGeom>
        </p:spPr>
      </p:pic>
      <p:pic>
        <p:nvPicPr>
          <p:cNvPr id="10" name="图片 9">
            <a:extLst>
              <a:ext uri="{FF2B5EF4-FFF2-40B4-BE49-F238E27FC236}">
                <a16:creationId xmlns:a16="http://schemas.microsoft.com/office/drawing/2014/main" id="{5174D9FA-8C11-539B-7D7E-0BB8F8127637}"/>
              </a:ext>
            </a:extLst>
          </p:cNvPr>
          <p:cNvPicPr>
            <a:picLocks noChangeAspect="1"/>
          </p:cNvPicPr>
          <p:nvPr/>
        </p:nvPicPr>
        <p:blipFill>
          <a:blip r:embed="rId3"/>
          <a:stretch>
            <a:fillRect/>
          </a:stretch>
        </p:blipFill>
        <p:spPr>
          <a:xfrm>
            <a:off x="6016507" y="0"/>
            <a:ext cx="5680553" cy="6858000"/>
          </a:xfrm>
          <a:prstGeom prst="rect">
            <a:avLst/>
          </a:prstGeom>
        </p:spPr>
      </p:pic>
    </p:spTree>
    <p:extLst>
      <p:ext uri="{BB962C8B-B14F-4D97-AF65-F5344CB8AC3E}">
        <p14:creationId xmlns:p14="http://schemas.microsoft.com/office/powerpoint/2010/main" val="109819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DA3200D-0584-94C5-51EA-2DF93E4BF664}"/>
              </a:ext>
            </a:extLst>
          </p:cNvPr>
          <p:cNvSpPr txBox="1"/>
          <p:nvPr/>
        </p:nvSpPr>
        <p:spPr>
          <a:xfrm>
            <a:off x="425450" y="285750"/>
            <a:ext cx="8802410"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拟人化网络和基线网络哪个更快达成共识？哪个更快达成稳态？</a:t>
            </a:r>
          </a:p>
        </p:txBody>
      </p:sp>
      <p:pic>
        <p:nvPicPr>
          <p:cNvPr id="4" name="图片 3">
            <a:extLst>
              <a:ext uri="{FF2B5EF4-FFF2-40B4-BE49-F238E27FC236}">
                <a16:creationId xmlns:a16="http://schemas.microsoft.com/office/drawing/2014/main" id="{B2F63BD7-E8A6-CF84-3378-53C2B7208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008" y="976924"/>
            <a:ext cx="8566638" cy="5711092"/>
          </a:xfrm>
          <a:prstGeom prst="rect">
            <a:avLst/>
          </a:prstGeom>
        </p:spPr>
      </p:pic>
    </p:spTree>
    <p:extLst>
      <p:ext uri="{BB962C8B-B14F-4D97-AF65-F5344CB8AC3E}">
        <p14:creationId xmlns:p14="http://schemas.microsoft.com/office/powerpoint/2010/main" val="163305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8C56154-AED0-F619-F688-EA106D4B0492}"/>
              </a:ext>
            </a:extLst>
          </p:cNvPr>
          <p:cNvSpPr txBox="1"/>
          <p:nvPr/>
        </p:nvSpPr>
        <p:spPr>
          <a:xfrm>
            <a:off x="425450" y="285750"/>
            <a:ext cx="7590539" cy="461665"/>
          </a:xfrm>
          <a:prstGeom prst="rect">
            <a:avLst/>
          </a:prstGeom>
          <a:noFill/>
        </p:spPr>
        <p:txBody>
          <a:bodyPr wrap="none" rtlCol="0">
            <a:spAutoFit/>
          </a:bodyPr>
          <a:lstStyle/>
          <a:p>
            <a:r>
              <a:rPr lang="en-US" altLang="zh-CN" sz="2400" b="1" dirty="0">
                <a:latin typeface="微软雅黑" panose="020B0503020204020204" pitchFamily="34" charset="-122"/>
                <a:ea typeface="微软雅黑" panose="020B0503020204020204" pitchFamily="34" charset="-122"/>
              </a:rPr>
              <a:t>Agent</a:t>
            </a:r>
            <a:r>
              <a:rPr lang="zh-CN" altLang="en-US" sz="2400" b="1" dirty="0">
                <a:latin typeface="微软雅黑" panose="020B0503020204020204" pitchFamily="34" charset="-122"/>
                <a:ea typeface="微软雅黑" panose="020B0503020204020204" pitchFamily="34" charset="-122"/>
              </a:rPr>
              <a:t>的影响力和固执度对最终平均观点有什么影响？</a:t>
            </a:r>
          </a:p>
        </p:txBody>
      </p:sp>
      <p:sp>
        <p:nvSpPr>
          <p:cNvPr id="5" name="文本框 4">
            <a:extLst>
              <a:ext uri="{FF2B5EF4-FFF2-40B4-BE49-F238E27FC236}">
                <a16:creationId xmlns:a16="http://schemas.microsoft.com/office/drawing/2014/main" id="{8AECECA6-D126-0FB5-C15D-D2FC80A243CD}"/>
              </a:ext>
            </a:extLst>
          </p:cNvPr>
          <p:cNvSpPr txBox="1"/>
          <p:nvPr/>
        </p:nvSpPr>
        <p:spPr>
          <a:xfrm>
            <a:off x="8648700" y="1443841"/>
            <a:ext cx="3187700" cy="3970318"/>
          </a:xfrm>
          <a:prstGeom prst="rect">
            <a:avLst/>
          </a:prstGeom>
          <a:noFill/>
        </p:spPr>
        <p:txBody>
          <a:bodyPr wrap="square">
            <a:spAutoFit/>
          </a:bodyPr>
          <a:lstStyle/>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avg_Ip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Agent</a:t>
            </a:r>
            <a:r>
              <a:rPr lang="zh-CN" altLang="en-US" dirty="0">
                <a:latin typeface="微软雅黑" panose="020B0503020204020204" pitchFamily="34" charset="-122"/>
                <a:ea typeface="微软雅黑" panose="020B0503020204020204" pitchFamily="34" charset="-122"/>
              </a:rPr>
              <a:t>正向影响力平均值</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avg_Sp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Agent</a:t>
            </a:r>
            <a:r>
              <a:rPr lang="zh-CN" altLang="en-US" dirty="0">
                <a:latin typeface="微软雅黑" panose="020B0503020204020204" pitchFamily="34" charset="-122"/>
                <a:ea typeface="微软雅黑" panose="020B0503020204020204" pitchFamily="34" charset="-122"/>
              </a:rPr>
              <a:t>正向固执度平均值</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avg_In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Agent</a:t>
            </a:r>
            <a:r>
              <a:rPr lang="zh-CN" altLang="en-US" dirty="0">
                <a:latin typeface="微软雅黑" panose="020B0503020204020204" pitchFamily="34" charset="-122"/>
                <a:ea typeface="微软雅黑" panose="020B0503020204020204" pitchFamily="34" charset="-122"/>
              </a:rPr>
              <a:t>负向影响力平均值</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avg_Sn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Agent</a:t>
            </a:r>
            <a:r>
              <a:rPr lang="zh-CN" altLang="en-US" dirty="0">
                <a:latin typeface="微软雅黑" panose="020B0503020204020204" pitchFamily="34" charset="-122"/>
                <a:ea typeface="微软雅黑" panose="020B0503020204020204" pitchFamily="34" charset="-122"/>
              </a:rPr>
              <a:t>负向固执度平均值</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max_Ip</a:t>
            </a:r>
            <a:r>
              <a:rPr lang="zh-CN" altLang="en-US" dirty="0">
                <a:latin typeface="微软雅黑" panose="020B0503020204020204" pitchFamily="34" charset="-122"/>
                <a:ea typeface="微软雅黑" panose="020B0503020204020204" pitchFamily="34" charset="-122"/>
              </a:rPr>
              <a:t>：最大正向影响力（意见领袖）</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max_In</a:t>
            </a:r>
            <a:r>
              <a:rPr lang="zh-CN" altLang="en-US" dirty="0">
                <a:latin typeface="微软雅黑" panose="020B0503020204020204" pitchFamily="34" charset="-122"/>
                <a:ea typeface="微软雅黑" panose="020B0503020204020204" pitchFamily="34" charset="-122"/>
              </a:rPr>
              <a:t>：最大负向影响力（带节奏者）</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max_Sp</a:t>
            </a:r>
            <a:r>
              <a:rPr lang="zh-CN" altLang="en-US" dirty="0">
                <a:latin typeface="微软雅黑" panose="020B0503020204020204" pitchFamily="34" charset="-122"/>
                <a:ea typeface="微软雅黑" panose="020B0503020204020204" pitchFamily="34" charset="-122"/>
              </a:rPr>
              <a:t>：最大正向固执度</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err="1">
                <a:latin typeface="微软雅黑" panose="020B0503020204020204" pitchFamily="34" charset="-122"/>
                <a:ea typeface="微软雅黑" panose="020B0503020204020204" pitchFamily="34" charset="-122"/>
              </a:rPr>
              <a:t>max_Sn</a:t>
            </a:r>
            <a:r>
              <a:rPr lang="zh-CN" altLang="en-US" dirty="0">
                <a:latin typeface="微软雅黑" panose="020B0503020204020204" pitchFamily="34" charset="-122"/>
                <a:ea typeface="微软雅黑" panose="020B0503020204020204" pitchFamily="34" charset="-122"/>
              </a:rPr>
              <a:t>：最大负向固执度</a:t>
            </a:r>
          </a:p>
        </p:txBody>
      </p:sp>
      <p:pic>
        <p:nvPicPr>
          <p:cNvPr id="6" name="图片 5">
            <a:extLst>
              <a:ext uri="{FF2B5EF4-FFF2-40B4-BE49-F238E27FC236}">
                <a16:creationId xmlns:a16="http://schemas.microsoft.com/office/drawing/2014/main" id="{C31F18DA-40C5-648D-5EEC-4AE6B5C8CE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814449"/>
            <a:ext cx="8136290" cy="5890846"/>
          </a:xfrm>
          <a:prstGeom prst="rect">
            <a:avLst/>
          </a:prstGeom>
        </p:spPr>
      </p:pic>
    </p:spTree>
    <p:extLst>
      <p:ext uri="{BB962C8B-B14F-4D97-AF65-F5344CB8AC3E}">
        <p14:creationId xmlns:p14="http://schemas.microsoft.com/office/powerpoint/2010/main" val="337672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39B9B77-7604-4600-3BA6-8DA375BD8A42}"/>
              </a:ext>
            </a:extLst>
          </p:cNvPr>
          <p:cNvSpPr txBox="1"/>
          <p:nvPr/>
        </p:nvSpPr>
        <p:spPr>
          <a:xfrm>
            <a:off x="425450" y="285750"/>
            <a:ext cx="9417963"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在平均影响力和最大影响力空间中，拟人化与基线网络的影响力分布</a:t>
            </a:r>
          </a:p>
        </p:txBody>
      </p:sp>
      <p:pic>
        <p:nvPicPr>
          <p:cNvPr id="13" name="图片 12">
            <a:extLst>
              <a:ext uri="{FF2B5EF4-FFF2-40B4-BE49-F238E27FC236}">
                <a16:creationId xmlns:a16="http://schemas.microsoft.com/office/drawing/2014/main" id="{32F7888A-95E7-2140-041B-C700CB759ED2}"/>
              </a:ext>
            </a:extLst>
          </p:cNvPr>
          <p:cNvPicPr>
            <a:picLocks noChangeAspect="1"/>
          </p:cNvPicPr>
          <p:nvPr/>
        </p:nvPicPr>
        <p:blipFill>
          <a:blip r:embed="rId2"/>
          <a:stretch>
            <a:fillRect/>
          </a:stretch>
        </p:blipFill>
        <p:spPr>
          <a:xfrm>
            <a:off x="5822289" y="788646"/>
            <a:ext cx="4515182" cy="5979208"/>
          </a:xfrm>
          <a:prstGeom prst="rect">
            <a:avLst/>
          </a:prstGeom>
        </p:spPr>
      </p:pic>
      <p:pic>
        <p:nvPicPr>
          <p:cNvPr id="15" name="图片 14">
            <a:extLst>
              <a:ext uri="{FF2B5EF4-FFF2-40B4-BE49-F238E27FC236}">
                <a16:creationId xmlns:a16="http://schemas.microsoft.com/office/drawing/2014/main" id="{2DD872AE-78AD-6817-5DF0-1339FFED0C70}"/>
              </a:ext>
            </a:extLst>
          </p:cNvPr>
          <p:cNvPicPr>
            <a:picLocks noChangeAspect="1"/>
          </p:cNvPicPr>
          <p:nvPr/>
        </p:nvPicPr>
        <p:blipFill>
          <a:blip r:embed="rId3"/>
          <a:stretch>
            <a:fillRect/>
          </a:stretch>
        </p:blipFill>
        <p:spPr>
          <a:xfrm>
            <a:off x="888588" y="788646"/>
            <a:ext cx="4515182" cy="5979208"/>
          </a:xfrm>
          <a:prstGeom prst="rect">
            <a:avLst/>
          </a:prstGeom>
        </p:spPr>
      </p:pic>
    </p:spTree>
    <p:extLst>
      <p:ext uri="{BB962C8B-B14F-4D97-AF65-F5344CB8AC3E}">
        <p14:creationId xmlns:p14="http://schemas.microsoft.com/office/powerpoint/2010/main" val="2111627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B543ADD-3532-FADC-2484-74E7652590C5}"/>
              </a:ext>
            </a:extLst>
          </p:cNvPr>
          <p:cNvSpPr txBox="1"/>
          <p:nvPr/>
        </p:nvSpPr>
        <p:spPr>
          <a:xfrm>
            <a:off x="825500" y="1143844"/>
            <a:ext cx="10045700" cy="3139321"/>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对于</a:t>
            </a:r>
            <a:r>
              <a:rPr lang="en-US" altLang="zh-CN" dirty="0">
                <a:latin typeface="微软雅黑" panose="020B0503020204020204" pitchFamily="34" charset="-122"/>
                <a:ea typeface="微软雅黑" panose="020B0503020204020204" pitchFamily="34" charset="-122"/>
              </a:rPr>
              <a:t>DeepSeek-V3.2</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GPT-5.1</a:t>
            </a:r>
            <a:r>
              <a:rPr lang="zh-CN" altLang="en-US" dirty="0">
                <a:latin typeface="微软雅黑" panose="020B0503020204020204" pitchFamily="34" charset="-122"/>
                <a:ea typeface="微软雅黑" panose="020B0503020204020204" pitchFamily="34" charset="-122"/>
              </a:rPr>
              <a:t>，差异主要由正向影响力维度主导：拟人化条件下模型的平均正向影响力与最大正向影响力均显著高于基线条件（</a:t>
            </a:r>
            <a:r>
              <a:rPr lang="en-US" altLang="zh-CN" dirty="0">
                <a:latin typeface="微软雅黑" panose="020B0503020204020204" pitchFamily="34" charset="-122"/>
                <a:ea typeface="微软雅黑" panose="020B0503020204020204" pitchFamily="34" charset="-122"/>
              </a:rPr>
              <a:t>p&lt;0.001</a:t>
            </a:r>
            <a:r>
              <a:rPr lang="zh-CN" altLang="en-US" dirty="0">
                <a:latin typeface="微软雅黑" panose="020B0503020204020204" pitchFamily="34" charset="-122"/>
                <a:ea typeface="微软雅黑" panose="020B0503020204020204" pitchFamily="34" charset="-122"/>
              </a:rPr>
              <a:t>）；而负向平均影响力与最大负向影响力虽在数值上低于基线组，但组间差异未达到统计显著水平。说明</a:t>
            </a:r>
            <a:r>
              <a:rPr lang="zh-CN" altLang="en-US" b="1" dirty="0">
                <a:solidFill>
                  <a:srgbClr val="C00000"/>
                </a:solidFill>
                <a:latin typeface="微软雅黑" panose="020B0503020204020204" pitchFamily="34" charset="-122"/>
                <a:ea typeface="微软雅黑" panose="020B0503020204020204" pitchFamily="34" charset="-122"/>
              </a:rPr>
              <a:t>拟人化操纵主要提升了这两类模型作为意见领袖的正向影响能力，并未显著改变其负向带节奏倾向</a:t>
            </a:r>
            <a:r>
              <a:rPr lang="zh-CN" altLang="en-US" dirty="0">
                <a:latin typeface="微软雅黑" panose="020B0503020204020204" pitchFamily="34" charset="-122"/>
                <a:ea typeface="微软雅黑" panose="020B0503020204020204" pitchFamily="34" charset="-122"/>
              </a:rPr>
              <a:t>。</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对于</a:t>
            </a:r>
            <a:r>
              <a:rPr lang="en-US" altLang="zh-CN" dirty="0">
                <a:latin typeface="微软雅黑" panose="020B0503020204020204" pitchFamily="34" charset="-122"/>
                <a:ea typeface="微软雅黑" panose="020B0503020204020204" pitchFamily="34" charset="-122"/>
              </a:rPr>
              <a:t>Llama-3.3-70b-instruct</a:t>
            </a:r>
            <a:r>
              <a:rPr lang="zh-CN" altLang="en-US" dirty="0">
                <a:latin typeface="微软雅黑" panose="020B0503020204020204" pitchFamily="34" charset="-122"/>
                <a:ea typeface="微软雅黑" panose="020B0503020204020204" pitchFamily="34" charset="-122"/>
              </a:rPr>
              <a:t>，呈现完全相反的变化规律：模型在平均正向影响力、最大正向影响力上两组无显著差异；但拟人化条件下负向平均影响力与最大负向影响力均显著低于基线条件（</a:t>
            </a:r>
            <a:r>
              <a:rPr lang="en-US" altLang="zh-CN" dirty="0">
                <a:latin typeface="微软雅黑" panose="020B0503020204020204" pitchFamily="34" charset="-122"/>
                <a:ea typeface="微软雅黑" panose="020B0503020204020204" pitchFamily="34" charset="-122"/>
              </a:rPr>
              <a:t>p&lt;0.001</a:t>
            </a:r>
            <a:r>
              <a:rPr lang="zh-CN" altLang="en-US" dirty="0">
                <a:latin typeface="微软雅黑" panose="020B0503020204020204" pitchFamily="34" charset="-122"/>
                <a:ea typeface="微软雅黑" panose="020B0503020204020204" pitchFamily="34" charset="-122"/>
              </a:rPr>
              <a:t>），表明</a:t>
            </a:r>
            <a:r>
              <a:rPr lang="zh-CN" altLang="en-US" b="1" dirty="0">
                <a:solidFill>
                  <a:srgbClr val="C00000"/>
                </a:solidFill>
                <a:latin typeface="微软雅黑" panose="020B0503020204020204" pitchFamily="34" charset="-122"/>
                <a:ea typeface="微软雅黑" panose="020B0503020204020204" pitchFamily="34" charset="-122"/>
              </a:rPr>
              <a:t>拟人化并未增强其正向引领能力，而是显著抑制了其作为带节奏者的负向极端表达倾向</a:t>
            </a:r>
            <a:r>
              <a:rPr lang="zh-CN" altLang="en-US" dirty="0">
                <a:latin typeface="微软雅黑" panose="020B0503020204020204" pitchFamily="34" charset="-122"/>
                <a:ea typeface="微软雅黑" panose="020B0503020204020204" pitchFamily="34" charset="-122"/>
              </a:rPr>
              <a:t>。</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对于</a:t>
            </a:r>
            <a:r>
              <a:rPr lang="en-US" altLang="zh-CN" dirty="0">
                <a:latin typeface="微软雅黑" panose="020B0503020204020204" pitchFamily="34" charset="-122"/>
                <a:ea typeface="微软雅黑" panose="020B0503020204020204" pitchFamily="34" charset="-122"/>
              </a:rPr>
              <a:t>Gemini-3.1-Flash-Lite-Preview</a:t>
            </a:r>
            <a:r>
              <a:rPr lang="zh-CN" altLang="en-US" dirty="0">
                <a:latin typeface="微软雅黑" panose="020B0503020204020204" pitchFamily="34" charset="-122"/>
                <a:ea typeface="微软雅黑" panose="020B0503020204020204" pitchFamily="34" charset="-122"/>
              </a:rPr>
              <a:t>，正向影响力相关指标在两组间无明显差异；但拟人化条件下负向平均影响力与最大负向影响力反而显著高于基线条件（</a:t>
            </a:r>
            <a:r>
              <a:rPr lang="en-US" altLang="zh-CN" dirty="0">
                <a:latin typeface="微软雅黑" panose="020B0503020204020204" pitchFamily="34" charset="-122"/>
                <a:ea typeface="微软雅黑" panose="020B0503020204020204" pitchFamily="34" charset="-122"/>
              </a:rPr>
              <a:t>p&lt;0.01</a:t>
            </a:r>
            <a:r>
              <a:rPr lang="zh-CN" altLang="en-US" dirty="0">
                <a:latin typeface="微软雅黑" panose="020B0503020204020204" pitchFamily="34" charset="-122"/>
                <a:ea typeface="微软雅黑" panose="020B0503020204020204" pitchFamily="34" charset="-122"/>
              </a:rPr>
              <a:t>），体现出拟人化操纵对该模型负向固执与极端表达特征具有明显强化作用。</a:t>
            </a:r>
          </a:p>
        </p:txBody>
      </p:sp>
      <p:sp>
        <p:nvSpPr>
          <p:cNvPr id="6" name="文本框 5">
            <a:extLst>
              <a:ext uri="{FF2B5EF4-FFF2-40B4-BE49-F238E27FC236}">
                <a16:creationId xmlns:a16="http://schemas.microsoft.com/office/drawing/2014/main" id="{818242E1-43ED-C56F-4664-CB66C3D8861E}"/>
              </a:ext>
            </a:extLst>
          </p:cNvPr>
          <p:cNvSpPr txBox="1"/>
          <p:nvPr/>
        </p:nvSpPr>
        <p:spPr>
          <a:xfrm>
            <a:off x="425450" y="285750"/>
            <a:ext cx="9417963"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在平均影响力和最大影响力空间中，拟人化与基线网络的影响力分布</a:t>
            </a:r>
          </a:p>
        </p:txBody>
      </p:sp>
    </p:spTree>
    <p:extLst>
      <p:ext uri="{BB962C8B-B14F-4D97-AF65-F5344CB8AC3E}">
        <p14:creationId xmlns:p14="http://schemas.microsoft.com/office/powerpoint/2010/main" val="2871282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77F50AA-AC48-A62F-D090-8ABC32A8272B}"/>
              </a:ext>
            </a:extLst>
          </p:cNvPr>
          <p:cNvSpPr txBox="1"/>
          <p:nvPr/>
        </p:nvSpPr>
        <p:spPr>
          <a:xfrm>
            <a:off x="425450" y="285750"/>
            <a:ext cx="203132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状态转移概率</a:t>
            </a:r>
          </a:p>
        </p:txBody>
      </p:sp>
      <p:pic>
        <p:nvPicPr>
          <p:cNvPr id="6" name="图片 5">
            <a:extLst>
              <a:ext uri="{FF2B5EF4-FFF2-40B4-BE49-F238E27FC236}">
                <a16:creationId xmlns:a16="http://schemas.microsoft.com/office/drawing/2014/main" id="{F33FC5D3-A4AF-2D70-0E4A-DD1BC7FC0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675" y="0"/>
            <a:ext cx="9144000" cy="6858000"/>
          </a:xfrm>
          <a:prstGeom prst="rect">
            <a:avLst/>
          </a:prstGeom>
        </p:spPr>
      </p:pic>
      <p:sp>
        <p:nvSpPr>
          <p:cNvPr id="7" name="文本框 6">
            <a:extLst>
              <a:ext uri="{FF2B5EF4-FFF2-40B4-BE49-F238E27FC236}">
                <a16:creationId xmlns:a16="http://schemas.microsoft.com/office/drawing/2014/main" id="{8D8BC58F-5A48-BB36-21F8-C7E05FD2CEA1}"/>
              </a:ext>
            </a:extLst>
          </p:cNvPr>
          <p:cNvSpPr txBox="1"/>
          <p:nvPr/>
        </p:nvSpPr>
        <p:spPr>
          <a:xfrm>
            <a:off x="311151" y="1282700"/>
            <a:ext cx="2615524" cy="1077218"/>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每一行加和应为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为什么在第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轮，拟人化条件下有更高的正向易感性（</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 → </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01650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48C9BFF-E59F-94F1-4141-891FFEEED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4" name="椭圆 3">
            <a:extLst>
              <a:ext uri="{FF2B5EF4-FFF2-40B4-BE49-F238E27FC236}">
                <a16:creationId xmlns:a16="http://schemas.microsoft.com/office/drawing/2014/main" id="{5E1A570B-49CF-4A0A-956E-F87F2A5E5509}"/>
              </a:ext>
            </a:extLst>
          </p:cNvPr>
          <p:cNvSpPr/>
          <p:nvPr/>
        </p:nvSpPr>
        <p:spPr>
          <a:xfrm>
            <a:off x="1866900" y="2870200"/>
            <a:ext cx="215900" cy="168910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66391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0A77B73-33C5-05DB-2B9C-DF8B3C465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448769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A67785C-A425-9523-3CE6-CC36EAF80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450" y="0"/>
            <a:ext cx="9144000" cy="6858000"/>
          </a:xfrm>
          <a:prstGeom prst="rect">
            <a:avLst/>
          </a:prstGeom>
        </p:spPr>
      </p:pic>
      <p:sp>
        <p:nvSpPr>
          <p:cNvPr id="6" name="文本框 5">
            <a:extLst>
              <a:ext uri="{FF2B5EF4-FFF2-40B4-BE49-F238E27FC236}">
                <a16:creationId xmlns:a16="http://schemas.microsoft.com/office/drawing/2014/main" id="{DB63FAEE-07B8-C8A7-ED43-373D26329606}"/>
              </a:ext>
            </a:extLst>
          </p:cNvPr>
          <p:cNvSpPr txBox="1"/>
          <p:nvPr/>
        </p:nvSpPr>
        <p:spPr>
          <a:xfrm>
            <a:off x="311151" y="1282700"/>
            <a:ext cx="2615524"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为什么在第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轮，拟人化条件下有更高的正向易感性（</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 → </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35538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BF4014E-823E-B67B-16B6-3B5D386DF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4" name="椭圆 3">
            <a:extLst>
              <a:ext uri="{FF2B5EF4-FFF2-40B4-BE49-F238E27FC236}">
                <a16:creationId xmlns:a16="http://schemas.microsoft.com/office/drawing/2014/main" id="{B1D02292-3530-5A29-7D4D-6F9C811E79D1}"/>
              </a:ext>
            </a:extLst>
          </p:cNvPr>
          <p:cNvSpPr/>
          <p:nvPr/>
        </p:nvSpPr>
        <p:spPr>
          <a:xfrm>
            <a:off x="7740650" y="2819400"/>
            <a:ext cx="215900" cy="168910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85267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0D10B2C-1392-6CCE-2E6B-DB9738535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762680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B534754-A3F0-AA9E-F381-4810C9CD5D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567118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71A2085-9926-0CEC-2A7B-43D71C114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694154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DEC0B41-4997-F2C6-DCC0-2811ABC8C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79860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98409F4-E4F1-4A5D-769A-0F155AAD8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4150" y="0"/>
            <a:ext cx="9144000" cy="6858000"/>
          </a:xfrm>
          <a:prstGeom prst="rect">
            <a:avLst/>
          </a:prstGeom>
        </p:spPr>
      </p:pic>
      <p:sp>
        <p:nvSpPr>
          <p:cNvPr id="4" name="文本框 3">
            <a:extLst>
              <a:ext uri="{FF2B5EF4-FFF2-40B4-BE49-F238E27FC236}">
                <a16:creationId xmlns:a16="http://schemas.microsoft.com/office/drawing/2014/main" id="{47FA0A7B-BD17-83C0-8D96-23755466DC65}"/>
              </a:ext>
            </a:extLst>
          </p:cNvPr>
          <p:cNvSpPr txBox="1"/>
          <p:nvPr/>
        </p:nvSpPr>
        <p:spPr>
          <a:xfrm>
            <a:off x="311151" y="1282700"/>
            <a:ext cx="2615524"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为什么在第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轮，基线条件下有更高的负向易感性（</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212801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80C079F-A84A-4463-C30A-EEB36168D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406856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B2750E1-83F2-A724-029F-3F33B0FCD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718188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FEE6AA3-AA6D-53F8-68D2-19CC1ABC3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767552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B4F9B0C-58F7-7267-F509-8D6F33A60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322665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3DB1E29-180B-A5B2-359B-25EEAE3B5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4100571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CC1C6B3-4BE1-BA94-6363-001E419C38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818037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C321F58-7E50-F328-A8E2-1FA50D8E08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712779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335DD26-2062-395C-A0C0-7CA0EDEB8C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4076452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F4196C6-BCDF-DD12-D35E-E3CE011CC8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3067195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F2546BD-F509-EDDA-BAE4-32B454B88C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109230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C5F952D-173D-0462-555F-A1CED16C1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2219860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20D513A-03F7-0961-A95C-F0A46C0CA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44450322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1544</TotalTime>
  <Words>479</Words>
  <Application>Microsoft Office PowerPoint</Application>
  <PresentationFormat>宽屏</PresentationFormat>
  <Paragraphs>25</Paragraphs>
  <Slides>32</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32</vt:i4>
      </vt:variant>
    </vt:vector>
  </HeadingPairs>
  <TitlesOfParts>
    <vt:vector size="37" baseType="lpstr">
      <vt:lpstr>等线</vt:lpstr>
      <vt:lpstr>等线 Light</vt:lpstr>
      <vt:lpstr>微软雅黑</vt:lpstr>
      <vt:lpstr>Arial</vt:lpstr>
      <vt:lpstr>Office 主题​​</vt:lpstr>
      <vt:lpstr>多智能体网络中的自我纠偏：拟人化身份与真相传播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 Wang</dc:creator>
  <cp:lastModifiedBy>Ye Wang</cp:lastModifiedBy>
  <cp:revision>50</cp:revision>
  <dcterms:created xsi:type="dcterms:W3CDTF">2026-05-11T00:23:59Z</dcterms:created>
  <dcterms:modified xsi:type="dcterms:W3CDTF">2026-05-28T08:09:15Z</dcterms:modified>
</cp:coreProperties>
</file>